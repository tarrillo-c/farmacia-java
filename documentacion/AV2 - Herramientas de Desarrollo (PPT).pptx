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286" r:id="rId21"/>
  </p:sldIdLst>
  <p:sldSz cx="18288000" cy="10287000"/>
  <p:notesSz cx="6858000" cy="9144000"/>
  <p:embeddedFontLst>
    <p:embeddedFont>
      <p:font typeface="Manjari" panose="020B0604020202020204" charset="0"/>
      <p:regular r:id="rId22"/>
    </p:embeddedFont>
    <p:embeddedFont>
      <p:font typeface="Manjari Bold" panose="020B0604020202020204" charset="0"/>
      <p:regular r:id="rId23"/>
    </p:embeddedFont>
    <p:embeddedFont>
      <p:font typeface="TT Milks Casual Pie Base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3C5D9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3C5D9E"/>
                    </a:solidFill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Carlos Arroyo</c:v>
                </c:pt>
                <c:pt idx="1">
                  <c:v>Danna Miñan</c:v>
                </c:pt>
                <c:pt idx="2">
                  <c:v>Nigson Tarrillo</c:v>
                </c:pt>
                <c:pt idx="3">
                  <c:v>Ronal Llapapasca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11</c:v>
                </c:pt>
                <c:pt idx="3">
                  <c:v>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40D-4E5B-A63D-AEA3085B01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700">
                <a:solidFill>
                  <a:srgbClr val="383838"/>
                </a:solidFill>
              </a:defRPr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g"/><Relationship Id="rId4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 rot="-903044">
            <a:off x="1382067" y="4224729"/>
            <a:ext cx="2304064" cy="3397414"/>
          </a:xfrm>
          <a:custGeom>
            <a:avLst/>
            <a:gdLst/>
            <a:ahLst/>
            <a:cxnLst/>
            <a:rect l="l" t="t" r="r" b="b"/>
            <a:pathLst>
              <a:path w="2304064" h="3397414">
                <a:moveTo>
                  <a:pt x="0" y="0"/>
                </a:moveTo>
                <a:lnTo>
                  <a:pt x="2304064" y="0"/>
                </a:lnTo>
                <a:lnTo>
                  <a:pt x="2304064" y="3397414"/>
                </a:lnTo>
                <a:lnTo>
                  <a:pt x="0" y="3397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5" name="Group 5"/>
          <p:cNvGrpSpPr/>
          <p:nvPr/>
        </p:nvGrpSpPr>
        <p:grpSpPr>
          <a:xfrm rot="-132286">
            <a:off x="4284696" y="2930104"/>
            <a:ext cx="9718609" cy="2009047"/>
            <a:chOff x="0" y="0"/>
            <a:chExt cx="2895914" cy="598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95914" cy="598648"/>
            </a:xfrm>
            <a:custGeom>
              <a:avLst/>
              <a:gdLst/>
              <a:ahLst/>
              <a:cxnLst/>
              <a:rect l="l" t="t" r="r" b="b"/>
              <a:pathLst>
                <a:path w="2895914" h="598648">
                  <a:moveTo>
                    <a:pt x="79661" y="0"/>
                  </a:moveTo>
                  <a:lnTo>
                    <a:pt x="2816253" y="0"/>
                  </a:lnTo>
                  <a:cubicBezTo>
                    <a:pt x="2837380" y="0"/>
                    <a:pt x="2857643" y="8393"/>
                    <a:pt x="2872582" y="23332"/>
                  </a:cubicBezTo>
                  <a:cubicBezTo>
                    <a:pt x="2887521" y="38271"/>
                    <a:pt x="2895914" y="58533"/>
                    <a:pt x="2895914" y="79661"/>
                  </a:cubicBezTo>
                  <a:lnTo>
                    <a:pt x="2895914" y="518987"/>
                  </a:lnTo>
                  <a:cubicBezTo>
                    <a:pt x="2895914" y="562983"/>
                    <a:pt x="2860249" y="598648"/>
                    <a:pt x="2816253" y="598648"/>
                  </a:cubicBezTo>
                  <a:lnTo>
                    <a:pt x="79661" y="598648"/>
                  </a:lnTo>
                  <a:cubicBezTo>
                    <a:pt x="58533" y="598648"/>
                    <a:pt x="38271" y="590255"/>
                    <a:pt x="23332" y="575316"/>
                  </a:cubicBezTo>
                  <a:cubicBezTo>
                    <a:pt x="8393" y="560377"/>
                    <a:pt x="0" y="540115"/>
                    <a:pt x="0" y="518987"/>
                  </a:cubicBezTo>
                  <a:lnTo>
                    <a:pt x="0" y="79661"/>
                  </a:lnTo>
                  <a:cubicBezTo>
                    <a:pt x="0" y="58533"/>
                    <a:pt x="8393" y="38271"/>
                    <a:pt x="23332" y="23332"/>
                  </a:cubicBezTo>
                  <a:cubicBezTo>
                    <a:pt x="38271" y="8393"/>
                    <a:pt x="58533" y="0"/>
                    <a:pt x="79661" y="0"/>
                  </a:cubicBezTo>
                  <a:close/>
                </a:path>
              </a:pathLst>
            </a:custGeom>
            <a:solidFill>
              <a:srgbClr val="3C5D9E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95914" cy="636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660980" y="3203599"/>
            <a:ext cx="8845551" cy="1658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0"/>
              </a:lnSpc>
            </a:pPr>
            <a:r>
              <a:rPr lang="en-US" sz="5011">
                <a:solidFill>
                  <a:srgbClr val="FFFFFF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Implementación de un sistema web para la gestión de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219570" y="4852749"/>
            <a:ext cx="7848860" cy="1961014"/>
            <a:chOff x="0" y="0"/>
            <a:chExt cx="2396059" cy="5986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96059" cy="598648"/>
            </a:xfrm>
            <a:custGeom>
              <a:avLst/>
              <a:gdLst/>
              <a:ahLst/>
              <a:cxnLst/>
              <a:rect l="l" t="t" r="r" b="b"/>
              <a:pathLst>
                <a:path w="2396059" h="598648">
                  <a:moveTo>
                    <a:pt x="98638" y="0"/>
                  </a:moveTo>
                  <a:lnTo>
                    <a:pt x="2297421" y="0"/>
                  </a:lnTo>
                  <a:cubicBezTo>
                    <a:pt x="2351898" y="0"/>
                    <a:pt x="2396059" y="44162"/>
                    <a:pt x="2396059" y="98638"/>
                  </a:cubicBezTo>
                  <a:lnTo>
                    <a:pt x="2396059" y="500011"/>
                  </a:lnTo>
                  <a:cubicBezTo>
                    <a:pt x="2396059" y="554487"/>
                    <a:pt x="2351898" y="598648"/>
                    <a:pt x="2297421" y="598648"/>
                  </a:cubicBezTo>
                  <a:lnTo>
                    <a:pt x="98638" y="598648"/>
                  </a:lnTo>
                  <a:cubicBezTo>
                    <a:pt x="44162" y="598648"/>
                    <a:pt x="0" y="554487"/>
                    <a:pt x="0" y="500011"/>
                  </a:cubicBezTo>
                  <a:lnTo>
                    <a:pt x="0" y="98638"/>
                  </a:lnTo>
                  <a:cubicBezTo>
                    <a:pt x="0" y="44162"/>
                    <a:pt x="44162" y="0"/>
                    <a:pt x="98638" y="0"/>
                  </a:cubicBezTo>
                  <a:close/>
                </a:path>
              </a:pathLst>
            </a:custGeom>
            <a:solidFill>
              <a:srgbClr val="7387C6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396059" cy="636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377888">
            <a:off x="14303142" y="4954906"/>
            <a:ext cx="3024083" cy="2991093"/>
          </a:xfrm>
          <a:custGeom>
            <a:avLst/>
            <a:gdLst/>
            <a:ahLst/>
            <a:cxnLst/>
            <a:rect l="l" t="t" r="r" b="b"/>
            <a:pathLst>
              <a:path w="3024083" h="2991093">
                <a:moveTo>
                  <a:pt x="0" y="0"/>
                </a:moveTo>
                <a:lnTo>
                  <a:pt x="3024084" y="0"/>
                </a:lnTo>
                <a:lnTo>
                  <a:pt x="3024084" y="2991093"/>
                </a:lnTo>
                <a:lnTo>
                  <a:pt x="0" y="2991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3" name="Freeform 13"/>
          <p:cNvSpPr/>
          <p:nvPr/>
        </p:nvSpPr>
        <p:spPr>
          <a:xfrm rot="-477516">
            <a:off x="3492675" y="2666614"/>
            <a:ext cx="1457705" cy="1476496"/>
          </a:xfrm>
          <a:custGeom>
            <a:avLst/>
            <a:gdLst/>
            <a:ahLst/>
            <a:cxnLst/>
            <a:rect l="l" t="t" r="r" b="b"/>
            <a:pathLst>
              <a:path w="1457705" h="1476496">
                <a:moveTo>
                  <a:pt x="0" y="0"/>
                </a:moveTo>
                <a:lnTo>
                  <a:pt x="1457704" y="0"/>
                </a:lnTo>
                <a:lnTo>
                  <a:pt x="1457704" y="1476496"/>
                </a:lnTo>
                <a:lnTo>
                  <a:pt x="0" y="14764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14" name="Group 14"/>
          <p:cNvGrpSpPr/>
          <p:nvPr/>
        </p:nvGrpSpPr>
        <p:grpSpPr>
          <a:xfrm>
            <a:off x="1028700" y="738040"/>
            <a:ext cx="16507494" cy="1228473"/>
            <a:chOff x="0" y="0"/>
            <a:chExt cx="5039322" cy="3750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39322" cy="375022"/>
            </a:xfrm>
            <a:custGeom>
              <a:avLst/>
              <a:gdLst/>
              <a:ahLst/>
              <a:cxnLst/>
              <a:rect l="l" t="t" r="r" b="b"/>
              <a:pathLst>
                <a:path w="5039322" h="375022">
                  <a:moveTo>
                    <a:pt x="46899" y="0"/>
                  </a:moveTo>
                  <a:lnTo>
                    <a:pt x="4992422" y="0"/>
                  </a:lnTo>
                  <a:cubicBezTo>
                    <a:pt x="5018324" y="0"/>
                    <a:pt x="5039322" y="20998"/>
                    <a:pt x="5039322" y="46899"/>
                  </a:cubicBezTo>
                  <a:lnTo>
                    <a:pt x="5039322" y="328122"/>
                  </a:lnTo>
                  <a:cubicBezTo>
                    <a:pt x="5039322" y="354024"/>
                    <a:pt x="5018324" y="375022"/>
                    <a:pt x="4992422" y="375022"/>
                  </a:cubicBezTo>
                  <a:lnTo>
                    <a:pt x="46899" y="375022"/>
                  </a:lnTo>
                  <a:cubicBezTo>
                    <a:pt x="20998" y="375022"/>
                    <a:pt x="0" y="354024"/>
                    <a:pt x="0" y="328122"/>
                  </a:cubicBezTo>
                  <a:lnTo>
                    <a:pt x="0" y="46899"/>
                  </a:lnTo>
                  <a:cubicBezTo>
                    <a:pt x="0" y="20998"/>
                    <a:pt x="20998" y="0"/>
                    <a:pt x="46899" y="0"/>
                  </a:cubicBezTo>
                  <a:close/>
                </a:path>
              </a:pathLst>
            </a:custGeom>
            <a:solidFill>
              <a:srgbClr val="3C5D9E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039322" cy="413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371105">
            <a:off x="13378859" y="1766660"/>
            <a:ext cx="1538689" cy="2526207"/>
          </a:xfrm>
          <a:custGeom>
            <a:avLst/>
            <a:gdLst/>
            <a:ahLst/>
            <a:cxnLst/>
            <a:rect l="l" t="t" r="r" b="b"/>
            <a:pathLst>
              <a:path w="1538689" h="2526207">
                <a:moveTo>
                  <a:pt x="0" y="0"/>
                </a:moveTo>
                <a:lnTo>
                  <a:pt x="1538689" y="0"/>
                </a:lnTo>
                <a:lnTo>
                  <a:pt x="1538689" y="2526206"/>
                </a:lnTo>
                <a:lnTo>
                  <a:pt x="0" y="2526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8" name="Freeform 18"/>
          <p:cNvSpPr/>
          <p:nvPr/>
        </p:nvSpPr>
        <p:spPr>
          <a:xfrm>
            <a:off x="8447411" y="1144180"/>
            <a:ext cx="1596209" cy="399052"/>
          </a:xfrm>
          <a:custGeom>
            <a:avLst/>
            <a:gdLst/>
            <a:ahLst/>
            <a:cxnLst/>
            <a:rect l="l" t="t" r="r" b="b"/>
            <a:pathLst>
              <a:path w="1596209" h="399052">
                <a:moveTo>
                  <a:pt x="0" y="0"/>
                </a:moveTo>
                <a:lnTo>
                  <a:pt x="1596209" y="0"/>
                </a:lnTo>
                <a:lnTo>
                  <a:pt x="1596209" y="399053"/>
                </a:lnTo>
                <a:lnTo>
                  <a:pt x="0" y="399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9" name="TextBox 19"/>
          <p:cNvSpPr txBox="1"/>
          <p:nvPr/>
        </p:nvSpPr>
        <p:spPr>
          <a:xfrm>
            <a:off x="5913733" y="5574490"/>
            <a:ext cx="6403384" cy="71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sz="6071">
                <a:solidFill>
                  <a:srgbClr val="FFFFFF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FarmaciaLink</a:t>
            </a:r>
          </a:p>
        </p:txBody>
      </p:sp>
      <p:sp>
        <p:nvSpPr>
          <p:cNvPr id="20" name="Freeform 20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21" name="TextBox 20"/>
          <p:cNvSpPr txBox="1"/>
          <p:nvPr/>
        </p:nvSpPr>
        <p:spPr>
          <a:xfrm>
            <a:off x="4206240" y="708660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3C5D9E"/>
                </a:solidFill>
                <a:latin typeface="Manjari Bold"/>
                <a:ea typeface="Manjari Bold"/>
                <a:cs typeface="Manjari Bold"/>
                <a:sym typeface="Manjari Bold"/>
              </a:rPr>
              <a:t>Avance de Proyecto II · Herramientas de Desarrollo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8001000"/>
            <a:ext cx="14630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Arroyo Vega, Carlos Felipe · Bustamante Suclupe, Carlos Andres · Llapapasca Montes, Ronal James</a:t>
            </a:r>
          </a:p>
          <a:p>
            <a:pPr algn="ctr">
              <a:spcAft>
                <a:spcPts val="400"/>
              </a:spcAft>
            </a:pPr>
            <a:r>
              <a:rPr sz="21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Miñan Gonzales, Danna Jael · Tarrillo Condor, Nigson Shrimi</a:t>
            </a:r>
          </a:p>
          <a:p>
            <a:pPr algn="ctr">
              <a:spcAft>
                <a:spcPts val="400"/>
              </a:spcAft>
            </a:pPr>
            <a:r>
              <a:rPr sz="21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Docente: Ing. Fernández Guerrero, Anaximandro · Chiclayo, 2026-II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7" name="Freeform 17"/>
          <p:cNvSpPr/>
          <p:nvPr/>
        </p:nvSpPr>
        <p:spPr>
          <a:xfrm rot="371105">
            <a:off x="16367759" y="7498079"/>
            <a:ext cx="1280990" cy="2103120"/>
          </a:xfrm>
          <a:custGeom>
            <a:avLst/>
            <a:gdLst/>
            <a:ahLst/>
            <a:cxnLst/>
            <a:rect l="l" t="t" r="r" b="b"/>
            <a:pathLst>
              <a:path w="1538689" h="2526207">
                <a:moveTo>
                  <a:pt x="0" y="0"/>
                </a:moveTo>
                <a:lnTo>
                  <a:pt x="1538689" y="0"/>
                </a:lnTo>
                <a:lnTo>
                  <a:pt x="1538689" y="2526206"/>
                </a:lnTo>
                <a:lnTo>
                  <a:pt x="0" y="2526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8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DEL AVANCE I AL AVANCE II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828800"/>
            <a:ext cx="7498079" cy="7498079"/>
          </a:xfrm>
          <a:prstGeom prst="roundRect">
            <a:avLst>
              <a:gd name="adj" fmla="val 8000"/>
            </a:avLst>
          </a:prstGeom>
          <a:solidFill>
            <a:srgbClr val="ECF0FA"/>
          </a:solidFill>
          <a:ln w="19050">
            <a:solidFill>
              <a:srgbClr val="C5C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7280" y="2148840"/>
            <a:ext cx="4206240" cy="68580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Correcciones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154680"/>
            <a:ext cx="6675120" cy="594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Stack real: Next.js 16, Spring Boot 4 (Java 21) y MySQL 8.4</a:t>
            </a:r>
          </a:p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Organigrama con asistente de gerencia y soporte de TI externo</a:t>
            </a:r>
          </a:p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Cinco procesos en BPMN 2.0, dos de ellos nuevos (P04 y P05)</a:t>
            </a:r>
          </a:p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Base de datos rediseñada: de 7 a 18 tablas normalizadas</a:t>
            </a:r>
          </a:p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RF-02 con actor Administrador y RNF renumerados (01 a 12)</a:t>
            </a:r>
          </a:p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Project Charter, Gantt y WBS alineados a 10 semanas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1828800"/>
            <a:ext cx="7498079" cy="74980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5C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61120" y="2148840"/>
            <a:ext cx="4206240" cy="685800"/>
          </a:xfrm>
          <a:prstGeom prst="roundRect">
            <a:avLst>
              <a:gd name="adj" fmla="val 50000"/>
            </a:avLst>
          </a:prstGeom>
          <a:solidFill>
            <a:srgbClr val="738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Lo nuevo en este avance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154680"/>
            <a:ext cx="6675120" cy="594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Consulta de DNI y RUC en el POS (RENIEC y SUNAT)</a:t>
            </a:r>
          </a:p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Herramientas de colaboración del equipo</a:t>
            </a:r>
          </a:p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Solicitudes Pull y política de protección de main</a:t>
            </a:r>
          </a:p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Seguimiento de incidentes en Jira con errores resueltos</a:t>
            </a:r>
          </a:p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Integración continua con GitHub Actions</a:t>
            </a:r>
          </a:p>
          <a:p>
            <a:pPr marL="292608" indent="-292608" algn="l">
              <a:spcAft>
                <a:spcPts val="1600"/>
              </a:spcAft>
              <a:buFont typeface="Arial"/>
              <a:buChar char="•"/>
            </a:pPr>
            <a:r>
              <a:rPr sz="23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Entrega continua: propuesta con Vercel y Render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7" name="Freeform 7"/>
          <p:cNvSpPr/>
          <p:nvPr/>
        </p:nvSpPr>
        <p:spPr>
          <a:xfrm rot="-1673174">
            <a:off x="15910559" y="7315200"/>
            <a:ext cx="2118747" cy="2194560"/>
          </a:xfrm>
          <a:custGeom>
            <a:avLst/>
            <a:gdLst/>
            <a:ahLst/>
            <a:cxnLst/>
            <a:rect l="l" t="t" r="r" b="b"/>
            <a:pathLst>
              <a:path w="2240891" h="2321074">
                <a:moveTo>
                  <a:pt x="0" y="0"/>
                </a:moveTo>
                <a:lnTo>
                  <a:pt x="2240891" y="0"/>
                </a:lnTo>
                <a:lnTo>
                  <a:pt x="2240891" y="2321073"/>
                </a:lnTo>
                <a:lnTo>
                  <a:pt x="0" y="2321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ORGANIGRAMA DE LA EMPRESA</a:t>
            </a:r>
          </a:p>
        </p:txBody>
      </p:sp>
      <p:pic>
        <p:nvPicPr>
          <p:cNvPr id="11" name="Picture 10" descr="00-organigram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531" y="1783080"/>
            <a:ext cx="10789337" cy="7818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070080" y="2011680"/>
            <a:ext cx="54864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Nivel directivo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Gerencia General, con el Asistente de Gerencia como puesto de staff.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0" y="3383280"/>
            <a:ext cx="54864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Asesoría externa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Soporte de TI (línea discontinua): la empresa no tiene un área de tecnología propia.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0" y="4754880"/>
            <a:ext cx="54864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Nivel ejecutivo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Administración y Dirección Técnica, a cargo del Químico Farmacéutico.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0" y="6126480"/>
            <a:ext cx="54864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Nivel operativo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Asistente Administrativo y tres cajeros del punto de venta.</a:t>
            </a:r>
          </a:p>
        </p:txBody>
      </p:sp>
      <p:sp>
        <p:nvSpPr>
          <p:cNvPr id="16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Elaborado por el grupo de trabajo.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3" name="Freeform 13"/>
          <p:cNvSpPr/>
          <p:nvPr/>
        </p:nvSpPr>
        <p:spPr>
          <a:xfrm rot="1200000">
            <a:off x="4206240" y="8366760"/>
            <a:ext cx="1083315" cy="1097280"/>
          </a:xfrm>
          <a:custGeom>
            <a:avLst/>
            <a:gdLst/>
            <a:ahLst/>
            <a:cxnLst/>
            <a:rect l="l" t="t" r="r" b="b"/>
            <a:pathLst>
              <a:path w="1457705" h="1476496">
                <a:moveTo>
                  <a:pt x="0" y="0"/>
                </a:moveTo>
                <a:lnTo>
                  <a:pt x="1457704" y="0"/>
                </a:lnTo>
                <a:lnTo>
                  <a:pt x="1457704" y="1476496"/>
                </a:lnTo>
                <a:lnTo>
                  <a:pt x="0" y="14764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PROCESOS DE NEGOCIO EN BPMN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78308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Cinco procesos modelados con pool, carriles, tareas de usuario y de servicio:</a:t>
            </a:r>
          </a:p>
        </p:txBody>
      </p:sp>
      <p:sp>
        <p:nvSpPr>
          <p:cNvPr id="16" name="P01"/>
          <p:cNvSpPr/>
          <p:nvPr/>
        </p:nvSpPr>
        <p:spPr>
          <a:xfrm>
            <a:off x="731520" y="269748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770632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P01  </a:t>
            </a: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Venta en POS y facturación</a:t>
            </a:r>
          </a:p>
        </p:txBody>
      </p:sp>
      <p:sp>
        <p:nvSpPr>
          <p:cNvPr id="18" name="P02"/>
          <p:cNvSpPr/>
          <p:nvPr/>
        </p:nvSpPr>
        <p:spPr>
          <a:xfrm>
            <a:off x="731520" y="3749039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22191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P02  </a:t>
            </a: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Inventario y alertas</a:t>
            </a:r>
          </a:p>
        </p:txBody>
      </p:sp>
      <p:sp>
        <p:nvSpPr>
          <p:cNvPr id="20" name="P03"/>
          <p:cNvSpPr/>
          <p:nvPr/>
        </p:nvSpPr>
        <p:spPr>
          <a:xfrm>
            <a:off x="731520" y="48006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873752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P03  </a:t>
            </a: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Afiliación y fidelización</a:t>
            </a:r>
          </a:p>
        </p:txBody>
      </p:sp>
      <p:sp>
        <p:nvSpPr>
          <p:cNvPr id="22" name="P04"/>
          <p:cNvSpPr/>
          <p:nvPr/>
        </p:nvSpPr>
        <p:spPr>
          <a:xfrm>
            <a:off x="731520" y="58521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925312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P04  </a:t>
            </a:r>
            <a:r>
              <a:rPr sz="1900" b="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Recepción de mercadería y lotes</a:t>
            </a:r>
          </a:p>
        </p:txBody>
      </p:sp>
      <p:sp>
        <p:nvSpPr>
          <p:cNvPr id="24" name="P05"/>
          <p:cNvSpPr/>
          <p:nvPr/>
        </p:nvSpPr>
        <p:spPr>
          <a:xfrm>
            <a:off x="731520" y="690372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6976872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P05  </a:t>
            </a:r>
            <a:r>
              <a:rPr sz="1900" b="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Devolución y anulación de venta</a:t>
            </a:r>
          </a:p>
        </p:txBody>
      </p:sp>
      <p:pic>
        <p:nvPicPr>
          <p:cNvPr id="27" name="Picture 26" descr="15-bpmn-abastecimien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079" y="1783080"/>
            <a:ext cx="5330321" cy="7680960"/>
          </a:xfrm>
          <a:prstGeom prst="rect">
            <a:avLst/>
          </a:prstGeom>
        </p:spPr>
      </p:pic>
      <p:pic>
        <p:nvPicPr>
          <p:cNvPr id="28" name="Picture 27" descr="16-bpmn-anulac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60" y="1802674"/>
            <a:ext cx="5943600" cy="7641771"/>
          </a:xfrm>
          <a:prstGeom prst="rect">
            <a:avLst/>
          </a:prstGeom>
        </p:spPr>
      </p:pic>
      <p:sp>
        <p:nvSpPr>
          <p:cNvPr id="29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Elaborado por el grupo de trabajo.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Freeform 8"/>
          <p:cNvSpPr/>
          <p:nvPr/>
        </p:nvSpPr>
        <p:spPr>
          <a:xfrm rot="660000">
            <a:off x="1463040" y="6400800"/>
            <a:ext cx="1871693" cy="2377440"/>
          </a:xfrm>
          <a:custGeom>
            <a:avLst/>
            <a:gdLst/>
            <a:ahLst/>
            <a:cxnLst/>
            <a:rect l="l" t="t" r="r" b="b"/>
            <a:pathLst>
              <a:path w="1740092" h="2210279">
                <a:moveTo>
                  <a:pt x="0" y="0"/>
                </a:moveTo>
                <a:lnTo>
                  <a:pt x="1740093" y="0"/>
                </a:lnTo>
                <a:lnTo>
                  <a:pt x="1740093" y="2210279"/>
                </a:lnTo>
                <a:lnTo>
                  <a:pt x="0" y="2210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BASE DE DATOS CORREGIDA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3931920" cy="3931920"/>
          </a:xfrm>
          <a:prstGeom prst="roundRect">
            <a:avLst>
              <a:gd name="adj" fmla="val 8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9319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200" b="1" dirty="0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29000"/>
            <a:ext cx="34747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tablas en MySQL</a:t>
            </a:r>
          </a:p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motor InnoDB, codificación utf8mb4 y claves foráneas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0" y="1828800"/>
          <a:ext cx="12710160" cy="748893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98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Aspecto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Avance I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Avance II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83838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Stock y vencimiento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Dentro de productos (lote, fecha_vencimiento, stock)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Por lote en lotes_inventario; detalle_ventas apunta al lote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83838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Datos del fármaco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Texto libre: laboratorio, principio_activo, presentacion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Tablas laboratorios, principios_activos y presentaciones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83838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Usuarios y roles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usuarios con rol en texto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empleados, usuarios y roles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83838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Fidelización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Campos dentro de clientes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Tabla fidelizacion_crm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83838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Medios de pago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ventas.metodo_pago en texto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Tabla metodos_pago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83838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Abastecimiento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 existía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proveedores, compras y detalle_compras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Script farmacia_bd.sql del repositorio y diccionario de datos del Avance 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DIAGRAMA ENTIDAD-RELACIÓN</a:t>
            </a:r>
          </a:p>
        </p:txBody>
      </p:sp>
      <p:pic>
        <p:nvPicPr>
          <p:cNvPr id="11" name="Picture 10" descr="08-e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532" y="1783080"/>
            <a:ext cx="10631334" cy="7818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070080" y="1920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C5D9E"/>
                </a:solidFill>
                <a:latin typeface="Manjari Bold"/>
                <a:ea typeface="Manjari Bold"/>
                <a:cs typeface="Manjari Bold"/>
                <a:sym typeface="Manjari Bold"/>
              </a:rPr>
              <a:t>18 tablas por módulo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80" y="2697479"/>
            <a:ext cx="685800" cy="54864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2651760"/>
            <a:ext cx="47548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Referenciales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roles, metodos_pago, categorias, laboratorios, principios_activos, presentaciones, proveedores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70080" y="4224528"/>
            <a:ext cx="685800" cy="54864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38760" y="4178808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RR. HH. y seguridad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empleados, usuarios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70080" y="5248656"/>
            <a:ext cx="685800" cy="54864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38760" y="5202936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Clientes y CRM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clientes, fidelizacion_crm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70080" y="6272784"/>
            <a:ext cx="685800" cy="54864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6227064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Productos y almacén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productos, lotes_inventario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80" y="7296912"/>
            <a:ext cx="685800" cy="54864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38760" y="7251192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Abastecimiento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compras, detalle_compras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70080" y="8321040"/>
            <a:ext cx="685800" cy="54864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38760" y="827532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Ventas y facturación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ventas, detalle_ventas, recibos</a:t>
            </a:r>
          </a:p>
        </p:txBody>
      </p:sp>
      <p:sp>
        <p:nvSpPr>
          <p:cNvPr id="25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Elaborado por el grupo de trabajo.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7" name="Freeform 7"/>
          <p:cNvSpPr/>
          <p:nvPr/>
        </p:nvSpPr>
        <p:spPr>
          <a:xfrm rot="20400000">
            <a:off x="7223760" y="8001000"/>
            <a:ext cx="1500779" cy="1554480"/>
          </a:xfrm>
          <a:custGeom>
            <a:avLst/>
            <a:gdLst/>
            <a:ahLst/>
            <a:cxnLst/>
            <a:rect l="l" t="t" r="r" b="b"/>
            <a:pathLst>
              <a:path w="2240891" h="2321074">
                <a:moveTo>
                  <a:pt x="0" y="0"/>
                </a:moveTo>
                <a:lnTo>
                  <a:pt x="2240891" y="0"/>
                </a:lnTo>
                <a:lnTo>
                  <a:pt x="2240891" y="2321073"/>
                </a:lnTo>
                <a:lnTo>
                  <a:pt x="0" y="2321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DICCIONARIO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C5D9E"/>
                </a:solidFill>
                <a:latin typeface="Manjari Bold"/>
                <a:ea typeface="Manjari Bold"/>
                <a:cs typeface="Manjari Bold"/>
                <a:sym typeface="Manjari Bold"/>
              </a:rPr>
              <a:t>Tabla lotes_inventario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377440"/>
          <a:ext cx="8321040" cy="569366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Columna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Tipo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Restricciones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BIGINT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PK, autoincremental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producto_id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BIGINT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NULL, FK → productos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codigo_lote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VARCHAR(50)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fecha_vencimiento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DATE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stock_actual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INT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NULL, DEFAULT 0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stock_minimo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INT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NULL, DEFAULT 5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precio_compra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DECIMAL(10,2)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NULL, DEFAULT 0.00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activo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BOOLEAN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DEFAULT TRUE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(producto_id, codigo_lote)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—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UNIQUE compuesto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418320" y="17830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C5D9E"/>
                </a:solidFill>
                <a:latin typeface="Manjari Bold"/>
                <a:ea typeface="Manjari Bold"/>
                <a:cs typeface="Manjari Bold"/>
                <a:sym typeface="Manjari Bold"/>
              </a:rPr>
              <a:t>Tabla ventas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418320" y="2377440"/>
          <a:ext cx="8229600" cy="680313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Columna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Tipo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Restricciones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BIGINT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PK, autoincremental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numero_venta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VARCHAR(30)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NULL, UNIQUE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fecha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DATETIME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cliente_id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BIGINT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NULL, FK → clientes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usuario_id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BIGINT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NULL, FK → usuarios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subtotal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DECIMAL(10,2)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descuento_total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DECIMAL(10,2)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NULL, DEFAULT 0.00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impuesto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DECIMAL(10,2)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total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DECIMAL(10,2)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metodo_pago_id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BIGINT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NULL, FK → metodos_pago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estado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VARCHAR(20)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NOT NULL, DEFAULT 'COMPLETADA'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8229600"/>
            <a:ext cx="6217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Se omiten created_at y updated_at. El diccionario completo de las 18 tablas está en el Apéndice A del informe.</a:t>
            </a:r>
          </a:p>
        </p:txBody>
      </p:sp>
      <p:sp>
        <p:nvSpPr>
          <p:cNvPr id="16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Elaborado por el grupo de trabajo.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482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NUEVO: COMPROBANTE CON DNI O RUC</a:t>
            </a:r>
          </a:p>
        </p:txBody>
      </p:sp>
      <p:pic>
        <p:nvPicPr>
          <p:cNvPr id="11" name="Picture 10" descr="image1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20" y="1783080"/>
            <a:ext cx="10864158" cy="7772400"/>
          </a:xfrm>
          <a:prstGeom prst="rect">
            <a:avLst/>
          </a:prstGeom>
          <a:ln w="19050">
            <a:solidFill>
              <a:srgbClr val="C5CFEC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12070080" y="1828800"/>
            <a:ext cx="3291840" cy="59436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Boleta → DNI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0" y="2514600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8 dígitos; nombre consultado en RENIEC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3474720"/>
            <a:ext cx="3291840" cy="59436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Factura → RUC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0" y="4160520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11 dígitos con dígito verificador (módulo 11); razón social en SUNAT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80" y="5120640"/>
            <a:ext cx="3291840" cy="59436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0" y="5806440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Público general, sin documento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0" y="6766559"/>
            <a:ext cx="55778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92608" indent="-292608" algn="l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Cliente nuevo: se registra automáticamente</a:t>
            </a:r>
          </a:p>
          <a:p>
            <a:pPr marL="292608" indent="-292608" algn="l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IGV de 18 % sobre el precio sin IGV, con redondeo HALF_UP igual en POS y backend</a:t>
            </a:r>
          </a:p>
          <a:p>
            <a:pPr marL="292608" indent="-292608" algn="l">
              <a:spcAft>
                <a:spcPts val="800"/>
              </a:spcAft>
              <a:buFont typeface="Arial"/>
              <a:buChar char="•"/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Series B001, F001 y T001</a:t>
            </a:r>
          </a:p>
        </p:txBody>
      </p:sp>
      <p:sp>
        <p:nvSpPr>
          <p:cNvPr id="19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Captura del sistema en funcionamiento (18/10/2026).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 rot="20700000">
            <a:off x="274320" y="7863840"/>
            <a:ext cx="1364284" cy="2011680"/>
          </a:xfrm>
          <a:custGeom>
            <a:avLst/>
            <a:gdLst/>
            <a:ahLst/>
            <a:cxnLst/>
            <a:rect l="l" t="t" r="r" b="b"/>
            <a:pathLst>
              <a:path w="2304064" h="3397414">
                <a:moveTo>
                  <a:pt x="0" y="0"/>
                </a:moveTo>
                <a:lnTo>
                  <a:pt x="2304064" y="0"/>
                </a:lnTo>
                <a:lnTo>
                  <a:pt x="2304064" y="3397414"/>
                </a:lnTo>
                <a:lnTo>
                  <a:pt x="0" y="3397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HERRAMIENTAS DE COLABORACIÓN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828800"/>
            <a:ext cx="10424160" cy="1234440"/>
          </a:xfrm>
          <a:prstGeom prst="roundRect">
            <a:avLst>
              <a:gd name="adj" fmla="val 8000"/>
            </a:avLst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06040" y="2121408"/>
            <a:ext cx="3017520" cy="658368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828800"/>
            <a:ext cx="67665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Repositorio remoto, ramas, Pull Requests y revisión de código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3291840"/>
            <a:ext cx="10424160" cy="1234440"/>
          </a:xfrm>
          <a:prstGeom prst="roundRect">
            <a:avLst>
              <a:gd name="adj" fmla="val 8000"/>
            </a:avLst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606040" y="3584448"/>
            <a:ext cx="3017520" cy="658368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291840"/>
            <a:ext cx="67665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Versionado local del frontend y del 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754880"/>
            <a:ext cx="10424160" cy="1234440"/>
          </a:xfrm>
          <a:prstGeom prst="roundRect">
            <a:avLst>
              <a:gd name="adj" fmla="val 8000"/>
            </a:avLst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606040" y="5047488"/>
            <a:ext cx="3017520" cy="658368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754880"/>
            <a:ext cx="67665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Integración continua: compilación y pruebas automáticas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6217920"/>
            <a:ext cx="10424160" cy="1234440"/>
          </a:xfrm>
          <a:prstGeom prst="roundRect">
            <a:avLst>
              <a:gd name="adj" fmla="val 8000"/>
            </a:avLst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606040" y="6510528"/>
            <a:ext cx="3017520" cy="658368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Jira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6217920"/>
            <a:ext cx="67665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Tablero Kanban, backlog e incidencias por módulo y prioridad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7680960"/>
            <a:ext cx="10424160" cy="1234440"/>
          </a:xfrm>
          <a:prstGeom prst="roundRect">
            <a:avLst>
              <a:gd name="adj" fmla="val 8000"/>
            </a:avLst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606040" y="7973568"/>
            <a:ext cx="3017520" cy="658368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WhatsApp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7680960"/>
            <a:ext cx="67665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Coordinación diaria, reparto de tareas y decisiones del equipo</a:t>
            </a:r>
          </a:p>
        </p:txBody>
      </p:sp>
      <p:pic>
        <p:nvPicPr>
          <p:cNvPr id="26" name="Picture 25" descr="image2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0290" y="1783080"/>
            <a:ext cx="3497580" cy="7772400"/>
          </a:xfrm>
          <a:prstGeom prst="rect">
            <a:avLst/>
          </a:prstGeom>
          <a:ln w="19050">
            <a:solidFill>
              <a:srgbClr val="C5CFEC"/>
            </a:solidFill>
          </a:ln>
        </p:spPr>
      </p:pic>
      <p:sp>
        <p:nvSpPr>
          <p:cNvPr id="27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Elaborado por el grupo de trabajo; captura del grupo de WhatsApp.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RAMAS Y COMMITS DEL REPOSITORIO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828800"/>
          <a:ext cx="11064239" cy="69494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Rama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Propósito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Estado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Rama principal e integrada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Rama por defecto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feature/categorias-crud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Mejoras del módulo de categorías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Fusionada (PR #1)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feature/consulta-dni-ruc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DNI/RUC en el POS e IGV unificado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Fusionada (PR #2)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ci/github-actions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Workflow de integración continua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Pendiente de PR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feature/test-conflict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Práctica de resolución de conflictos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2 commits sin fusionar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Arroyo, Bustamante, danna, james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Ramas personales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Sin cambios pendientes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Tarillo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Rama personal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11 commits sin fusionar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252960" y="18288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C5D9E"/>
                </a:solidFill>
                <a:latin typeface="Manjari Bold"/>
                <a:ea typeface="Manjari Bold"/>
                <a:cs typeface="Manjari Bold"/>
                <a:sym typeface="Manjari Bold"/>
              </a:rPr>
              <a:t>Commits por autor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12070080" y="2377440"/>
          <a:ext cx="566928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2070080" y="7452360"/>
            <a:ext cx="5669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git shortlog -sne --all (18/10/2026). Los 83 de Ronal incluyen 2 fusiones hechas desde la web de GitHub.</a:t>
            </a:r>
          </a:p>
        </p:txBody>
      </p:sp>
      <p:sp>
        <p:nvSpPr>
          <p:cNvPr id="15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Repositorio TARRILLO-C/farmacia-java en GitHub.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7" name="Freeform 17"/>
          <p:cNvSpPr/>
          <p:nvPr/>
        </p:nvSpPr>
        <p:spPr>
          <a:xfrm rot="900000">
            <a:off x="16642080" y="4572000"/>
            <a:ext cx="1002514" cy="1645920"/>
          </a:xfrm>
          <a:custGeom>
            <a:avLst/>
            <a:gdLst/>
            <a:ahLst/>
            <a:cxnLst/>
            <a:rect l="l" t="t" r="r" b="b"/>
            <a:pathLst>
              <a:path w="1538689" h="2526207">
                <a:moveTo>
                  <a:pt x="0" y="0"/>
                </a:moveTo>
                <a:lnTo>
                  <a:pt x="1538689" y="0"/>
                </a:lnTo>
                <a:lnTo>
                  <a:pt x="1538689" y="2526206"/>
                </a:lnTo>
                <a:lnTo>
                  <a:pt x="0" y="2526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8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482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SOLICITUDES PULL (PULL REQUESTS)</a:t>
            </a:r>
          </a:p>
        </p:txBody>
      </p:sp>
      <p:pic>
        <p:nvPicPr>
          <p:cNvPr id="19" name="Picture 18" descr="11-ramas-pull-request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783220"/>
            <a:ext cx="10607040" cy="576043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1795760" y="182880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0" y="182880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Rama propia creada desde main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95760" y="269748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0" y="269748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Commits y push de la rama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95760" y="356616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0" y="356616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PR hacia main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95760" y="443484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73000" y="443484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 CI valida compilación y pruebas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795760" y="530352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3000" y="530352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Revisión y fusión (merge)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31520" y="7726679"/>
          <a:ext cx="16916400" cy="15087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PR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Título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Rama origen → main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Cambios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#1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feat: mejoras en el modulo de categorias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feature/categorias-crud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1 commit, 1 archivo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#2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Consulta DNI/RUC, boleta/factura en el POS e IGV unificado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feature/consulta-dni-ruc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3 commits, 25 archivos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Elaborado a partir de git log y de la API de GitHub.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316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PROTECCIÓN DE MAIN Y COMANDOS 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6766560" cy="7589520"/>
          </a:xfrm>
          <a:prstGeom prst="roundRect">
            <a:avLst>
              <a:gd name="adj" fmla="val 8000"/>
            </a:avLst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05740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C5D9E"/>
                </a:solidFill>
                <a:latin typeface="Manjari Bold"/>
                <a:ea typeface="Manjari Bold"/>
                <a:cs typeface="Manjari Bold"/>
                <a:sym typeface="Manjari Bold"/>
              </a:rPr>
              <a:t>Política para la rama 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90779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83464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Sin pushes directos: todo cambio entra por Pull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18795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1480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Al menos una aprobación de un integrante distinto del autor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54681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39496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Jobs del CI (backend y frontend) en verde antes de fusionar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67482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667512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Rama actualizada con main y sin conversaciones abiertas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80284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79552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Se elimina la rama de funcionalidad tras la fusión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863840" y="1828800"/>
          <a:ext cx="9875520" cy="75895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895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Propósito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Comando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Clonar el repositorio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clone https://github.com/TARRILLO-C/farmacia-java.git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Crear rama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switch -c feature/consulta-dni-ruc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Revisar cambios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status · git diff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Confirmar cambios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add &lt;archivos&gt; · git commit -m "feat(pos): …"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Subir la rama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push -u origin feature/consulta-dni-ruc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Actualizar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fetch origin · git pull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Integrar main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origin/main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Resolver conflicto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editar &lt;&lt;&lt;&lt;&lt;&lt;&lt; ======= &gt;&gt;&gt;&gt;&gt;&gt;&gt; · git add · git commit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Ver historial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--oneline --graph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Elaborado por el grupo de trabajo.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GESTIÓN DE ACTIVIDADES EN JIRA</a:t>
            </a:r>
          </a:p>
        </p:txBody>
      </p:sp>
      <p:pic>
        <p:nvPicPr>
          <p:cNvPr id="11" name="Picture 10" descr="image2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20826"/>
            <a:ext cx="6949440" cy="4387947"/>
          </a:xfrm>
          <a:prstGeom prst="rect">
            <a:avLst/>
          </a:prstGeom>
          <a:ln w="19050">
            <a:solidFill>
              <a:srgbClr val="C5CF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31520" y="6675120"/>
            <a:ext cx="676656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92608" indent="-292608" algn="l">
              <a:spcAft>
                <a:spcPts val="1000"/>
              </a:spcAft>
              <a:buFont typeface="Arial"/>
              <a:buChar char="•"/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Tablero Kanban: Por hacer, En progreso, En revisión y Listo</a:t>
            </a:r>
          </a:p>
          <a:p>
            <a:pPr marL="292608" indent="-292608" algn="l">
              <a:spcAft>
                <a:spcPts val="1000"/>
              </a:spcAft>
              <a:buFont typeface="Arial"/>
              <a:buChar char="•"/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Cada tarea con código, módulo, responsable, prioridad y fecha objetivo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138160" y="1828800"/>
          <a:ext cx="9601200" cy="73152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Clave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Resumen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Responsable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Pts.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FL-1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Requerimientos del módulo de ventas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Carlos Arroyo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FL-2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Prototipo de inventario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Carlos Bustamante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3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FL-3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Entorno de desarrollo Next.js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Ronal Llapapasca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3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FL-4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Estructura inicial de base de datos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Danna Miñan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FL-5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Módulo de productos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Nigson Tarrillo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8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FL-6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Autenticación JWT + Spring Security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Carlos Arroyo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FL-7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Pruebas unitarias de inventario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Carlos Bustamante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3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FL-8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Revisión de código de reportes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Danna Miñan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2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FL-9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Documentar despliegue en producción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Nigson Tarrillo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3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Tablero y backlog del proyecto FarmaciaLink en Jira.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SEGUIMIENTO DE INCIDENTES</a:t>
            </a:r>
          </a:p>
        </p:txBody>
      </p:sp>
      <p:pic>
        <p:nvPicPr>
          <p:cNvPr id="11" name="Picture 10" descr="14-flujo-incidenc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60" y="1783080"/>
            <a:ext cx="2617399" cy="777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0" y="1783080"/>
            <a:ext cx="1362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3C5D9E"/>
                </a:solidFill>
                <a:latin typeface="Manjari Bold"/>
                <a:ea typeface="Manjari Bold"/>
                <a:cs typeface="Manjari Bold"/>
                <a:sym typeface="Manjari Bold"/>
              </a:rPr>
              <a:t>Incidencias de tipo error resueltas e integradas con el PR #2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0" y="2423160"/>
          <a:ext cx="13624560" cy="56692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ID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Error detectado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Causa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Resolución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Commit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ERR-01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Ninguna venta se registraba: HTTP 500 en POST /api/v1/ventas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JPQL inválido en LoteInventarioRepository (l.productoId)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Consultas JPQL explícitas sobre l.producto.id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d7966b5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ERR-02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El POS mostraba un comprobante aunque el backend rechazara la venta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Comprobante simulado en el frontend al fallar la API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Se eliminó la simulación; se muestra el motivo real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d7966b5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ERR-03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Total del POS distinto al del backend (S/ 0.50 frente a S/ 0.59)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El POS asumía precios con IGV incluido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Precio sin IGV + 18 % con redondeo HALF_UP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838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69199f7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114800" y="8366760"/>
            <a:ext cx="13624560" cy="1097280"/>
          </a:xfrm>
          <a:prstGeom prst="roundRect">
            <a:avLst>
              <a:gd name="adj" fmla="val 8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8366760"/>
            <a:ext cx="131673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Verificación: </a:t>
            </a:r>
            <a:r>
              <a:rPr sz="1800" b="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31 pruebas unitarias en verde y venta B001-00000003 con el mismo total (S/ 11.68) en el POS, el comprobante y la base de datos.</a:t>
            </a:r>
          </a:p>
        </p:txBody>
      </p:sp>
      <p:sp>
        <p:nvSpPr>
          <p:cNvPr id="16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Repositorio en GitHub (commits y PR #2).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2" name="Freeform 12"/>
          <p:cNvSpPr/>
          <p:nvPr/>
        </p:nvSpPr>
        <p:spPr>
          <a:xfrm rot="20700000">
            <a:off x="548640" y="7223760"/>
            <a:ext cx="2403661" cy="2377440"/>
          </a:xfrm>
          <a:custGeom>
            <a:avLst/>
            <a:gdLst/>
            <a:ahLst/>
            <a:cxnLst/>
            <a:rect l="l" t="t" r="r" b="b"/>
            <a:pathLst>
              <a:path w="3024083" h="2991093">
                <a:moveTo>
                  <a:pt x="0" y="0"/>
                </a:moveTo>
                <a:lnTo>
                  <a:pt x="3024084" y="0"/>
                </a:lnTo>
                <a:lnTo>
                  <a:pt x="3024084" y="2991093"/>
                </a:lnTo>
                <a:lnTo>
                  <a:pt x="0" y="2991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3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REGISTRO DE RIESGOS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1828800"/>
          <a:ext cx="16824960" cy="46634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Clave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Resumen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Prioridad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Estado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Responsable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Fecha de fin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FL-20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Posible retraso en la integración de autenticación JWT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Alta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En revisión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Carlos Arroyo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18/10/2026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FL-21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Incompatibilidad de versiones entre Next.js y librerías externas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Alta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En progreso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Carlos Bustamante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22/10/2026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FL-22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Retraso en la entrega del módulo de reportes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Media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Por hacer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Nigson Tarrillo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28/10/2026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FL-23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Posibles errores en el control de stock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Media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En progreso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Ronal Llapapasca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25/10/2026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FL-24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Falta de disponibilidad de datos para pruebas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Baja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Por hacer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Danna Miñan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30/10/2026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474720" y="6949440"/>
            <a:ext cx="14264640" cy="1920240"/>
          </a:xfrm>
          <a:prstGeom prst="roundRect">
            <a:avLst>
              <a:gd name="adj" fmla="val 8000"/>
            </a:avLst>
          </a:prstGeom>
          <a:solidFill>
            <a:srgbClr val="EC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4760" y="6949440"/>
            <a:ext cx="1371600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Riesgo técnico del Project Charter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Dependencia de apiperu.dev para consultar DNI y RUC. Mitigación: buscar primero clientes ya registrados, tiempos de espera de 5 y 10 s, mensaje con opción de reintento y token en variable de entorno.</a:t>
            </a:r>
          </a:p>
        </p:txBody>
      </p:sp>
      <p:sp>
        <p:nvSpPr>
          <p:cNvPr id="17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Registro de riesgos del proyecto en Jira.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INTEGRACIÓN CONTINUA (CI)</a:t>
            </a:r>
          </a:p>
        </p:txBody>
      </p:sp>
      <p:pic>
        <p:nvPicPr>
          <p:cNvPr id="11" name="Picture 10" descr="12-pipeline-c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55594"/>
            <a:ext cx="4480560" cy="762737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0" y="182880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0" y="1828800"/>
            <a:ext cx="384048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Ejecución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CI #1 · Success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182880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38360" y="1828800"/>
            <a:ext cx="384048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Backend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1 min 21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807440" y="182880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3C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807440" y="1828800"/>
            <a:ext cx="384048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Manjari"/>
                <a:ea typeface="Manjari"/>
                <a:cs typeface="Manjari"/>
                <a:sym typeface="Manjari"/>
              </a:rPr>
              <a:t>Frontend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41 s</a:t>
            </a:r>
          </a:p>
        </p:txBody>
      </p:sp>
      <p:pic>
        <p:nvPicPr>
          <p:cNvPr id="18" name="Picture 17" descr="image2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429000"/>
            <a:ext cx="6949440" cy="4401022"/>
          </a:xfrm>
          <a:prstGeom prst="rect">
            <a:avLst/>
          </a:prstGeom>
          <a:ln w="19050">
            <a:solidFill>
              <a:srgbClr val="C5CFEC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12984480" y="3429000"/>
            <a:ext cx="4754880" cy="5760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92608" indent="-292608" algn="l"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GitHub Actions: workflow .github/workflows/ci.yml</a:t>
            </a:r>
          </a:p>
          <a:p>
            <a:pPr marL="292608" indent="-292608" algn="l"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Se ejecuta en cada push y en cada PR hacia main</a:t>
            </a:r>
          </a:p>
          <a:p>
            <a:pPr marL="292608" indent="-292608" algn="l"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Backend: Java 21, MySQL 8.4 como servicio y ./mvnw clean verify</a:t>
            </a:r>
          </a:p>
          <a:p>
            <a:pPr marL="292608" indent="-292608" algn="l"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Frontend: Node.js 22, npm ci, lint y build de Next.js</a:t>
            </a:r>
          </a:p>
          <a:p>
            <a:pPr marL="292608" indent="-292608" algn="l"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 workflow está en la rama ci/github-actions; falta fusionarlo a main</a:t>
            </a:r>
          </a:p>
        </p:txBody>
      </p:sp>
      <p:sp>
        <p:nvSpPr>
          <p:cNvPr id="20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Elaborado por el grupo de trabajo; captura de GitHub Actions (18/10/2026).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Freeform 8"/>
          <p:cNvSpPr/>
          <p:nvPr/>
        </p:nvSpPr>
        <p:spPr>
          <a:xfrm rot="660000">
            <a:off x="16367759" y="868680"/>
            <a:ext cx="1151811" cy="1463040"/>
          </a:xfrm>
          <a:custGeom>
            <a:avLst/>
            <a:gdLst/>
            <a:ahLst/>
            <a:cxnLst/>
            <a:rect l="l" t="t" r="r" b="b"/>
            <a:pathLst>
              <a:path w="1740092" h="2210279">
                <a:moveTo>
                  <a:pt x="0" y="0"/>
                </a:moveTo>
                <a:lnTo>
                  <a:pt x="1740093" y="0"/>
                </a:lnTo>
                <a:lnTo>
                  <a:pt x="1740093" y="2210279"/>
                </a:lnTo>
                <a:lnTo>
                  <a:pt x="0" y="2210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ENTREGA CONTINUA (CD)</a:t>
            </a:r>
          </a:p>
        </p:txBody>
      </p:sp>
      <p:pic>
        <p:nvPicPr>
          <p:cNvPr id="11" name="Picture 10" descr="13-cd-propuest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26" y="1783080"/>
            <a:ext cx="6193147" cy="7772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79" y="1828800"/>
            <a:ext cx="6766560" cy="640080"/>
          </a:xfrm>
          <a:prstGeom prst="roundRect">
            <a:avLst>
              <a:gd name="adj" fmla="val 50000"/>
            </a:avLst>
          </a:prstGeom>
          <a:solidFill>
            <a:srgbClr val="738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anjari Bold"/>
                <a:ea typeface="Manjari Bold"/>
                <a:cs typeface="Manjari Bold"/>
                <a:sym typeface="Manjari Bold"/>
              </a:rPr>
              <a:t>Estado: planificada, aún no implementada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498079" y="2743200"/>
          <a:ext cx="10241280" cy="60350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Componente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Plataforma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njari Bold"/>
                          <a:ea typeface="Manjari Bold"/>
                          <a:cs typeface="Manjari Bold"/>
                          <a:sym typeface="Manjari Bold"/>
                        </a:rPr>
                        <a:t>Configuración prevista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3C5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Frontend Next.js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Vercel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Despliegue automático al hacer push a main y vista previa por PR; variable NEXT_PUBLIC_API_URL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Backend Spring Boot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Render (Docker)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Imagen con Dockerfile (Maven + JRE 21); variables de base de datos y APIPERU_TOKEN; health check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EC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Base de datos MySQL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Proveedor externo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83838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Render solo ofrece PostgreSQL administrado; farmacia_db debe alojarse fuera</a:t>
                      </a:r>
                    </a:p>
                  </a:txBody>
                  <a:tcPr marT="36576" marB="36576" anchor="ctr">
                    <a:lnL w="12700">
                      <a:solidFill>
                        <a:srgbClr val="C5CFEC"/>
                      </a:solidFill>
                    </a:lnL>
                    <a:lnR w="12700">
                      <a:solidFill>
                        <a:srgbClr val="C5CFEC"/>
                      </a:solidFill>
                    </a:lnR>
                    <a:lnT w="12700">
                      <a:solidFill>
                        <a:srgbClr val="C5CFEC"/>
                      </a:solidFill>
                    </a:lnT>
                    <a:lnB w="12700">
                      <a:solidFill>
                        <a:srgbClr val="C5CF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Elaborado por el grupo de trabajo.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DIAGRAMA DE GANTT</a:t>
            </a:r>
          </a:p>
        </p:txBody>
      </p:sp>
      <p:pic>
        <p:nvPicPr>
          <p:cNvPr id="11" name="Picture 10" descr="06-gant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191" y="1691640"/>
            <a:ext cx="14529616" cy="7909560"/>
          </a:xfrm>
          <a:prstGeom prst="rect">
            <a:avLst/>
          </a:prstGeom>
        </p:spPr>
      </p:pic>
      <p:sp>
        <p:nvSpPr>
          <p:cNvPr id="12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Elaborado por el grupo de trabajo.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15351363" y="0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3" name="Freeform 13"/>
          <p:cNvSpPr/>
          <p:nvPr/>
        </p:nvSpPr>
        <p:spPr>
          <a:xfrm rot="900000">
            <a:off x="731520" y="8412480"/>
            <a:ext cx="1173591" cy="1188720"/>
          </a:xfrm>
          <a:custGeom>
            <a:avLst/>
            <a:gdLst/>
            <a:ahLst/>
            <a:cxnLst/>
            <a:rect l="l" t="t" r="r" b="b"/>
            <a:pathLst>
              <a:path w="1457705" h="1476496">
                <a:moveTo>
                  <a:pt x="0" y="0"/>
                </a:moveTo>
                <a:lnTo>
                  <a:pt x="1457704" y="0"/>
                </a:lnTo>
                <a:lnTo>
                  <a:pt x="1457704" y="1476496"/>
                </a:lnTo>
                <a:lnTo>
                  <a:pt x="0" y="14764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7" name="Freeform 7"/>
          <p:cNvSpPr/>
          <p:nvPr/>
        </p:nvSpPr>
        <p:spPr>
          <a:xfrm rot="-1673174">
            <a:off x="16276320" y="8412480"/>
            <a:ext cx="1147654" cy="1188720"/>
          </a:xfrm>
          <a:custGeom>
            <a:avLst/>
            <a:gdLst/>
            <a:ahLst/>
            <a:cxnLst/>
            <a:rect l="l" t="t" r="r" b="b"/>
            <a:pathLst>
              <a:path w="2240891" h="2321074">
                <a:moveTo>
                  <a:pt x="0" y="0"/>
                </a:moveTo>
                <a:lnTo>
                  <a:pt x="2240891" y="0"/>
                </a:lnTo>
                <a:lnTo>
                  <a:pt x="2240891" y="2321073"/>
                </a:lnTo>
                <a:lnTo>
                  <a:pt x="0" y="2321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Título"/>
          <p:cNvSpPr txBox="1"/>
          <p:nvPr/>
        </p:nvSpPr>
        <p:spPr>
          <a:xfrm>
            <a:off x="731520" y="411480"/>
            <a:ext cx="14081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386" b="0">
                <a:solidFill>
                  <a:srgbClr val="3C5D9E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ESTRUCTURA DE DESGLOSE DEL TRABAJO (WBS)</a:t>
            </a:r>
          </a:p>
        </p:txBody>
      </p:sp>
      <p:pic>
        <p:nvPicPr>
          <p:cNvPr id="15" name="Picture 14" descr="07-wb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1842973"/>
            <a:ext cx="16824960" cy="63724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3200" y="8458200"/>
            <a:ext cx="1280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Seis fases y 21 paquetes de trabajo; la numeración coincide con la del diagrama de Gantt.</a:t>
            </a:r>
          </a:p>
        </p:txBody>
      </p:sp>
      <p:sp>
        <p:nvSpPr>
          <p:cNvPr id="17" name="Fuente"/>
          <p:cNvSpPr txBox="1"/>
          <p:nvPr/>
        </p:nvSpPr>
        <p:spPr>
          <a:xfrm>
            <a:off x="8412480" y="9692640"/>
            <a:ext cx="9326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000" b="1">
                <a:solidFill>
                  <a:srgbClr val="383838"/>
                </a:solidFill>
                <a:latin typeface="Manjari Bold"/>
                <a:ea typeface="Manjari Bold"/>
                <a:cs typeface="Manjari Bold"/>
                <a:sym typeface="Manjari Bold"/>
              </a:rPr>
              <a:t>Fuente: </a:t>
            </a:r>
            <a:r>
              <a:rPr sz="2000" b="0">
                <a:solidFill>
                  <a:srgbClr val="383838"/>
                </a:solidFill>
                <a:latin typeface="Manjari"/>
                <a:ea typeface="Manjari"/>
                <a:cs typeface="Manjari"/>
                <a:sym typeface="Manjari"/>
              </a:rPr>
              <a:t>Elaborado por el grupo de trabajo.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37152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0" y="0"/>
                </a:moveTo>
                <a:lnTo>
                  <a:pt x="19184706" y="0"/>
                </a:lnTo>
                <a:lnTo>
                  <a:pt x="19184706" y="10778317"/>
                </a:lnTo>
                <a:lnTo>
                  <a:pt x="0" y="1077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 flipH="1">
            <a:off x="9115425" y="-365028"/>
            <a:ext cx="19184707" cy="10778317"/>
          </a:xfrm>
          <a:custGeom>
            <a:avLst/>
            <a:gdLst/>
            <a:ahLst/>
            <a:cxnLst/>
            <a:rect l="l" t="t" r="r" b="b"/>
            <a:pathLst>
              <a:path w="19184707" h="10778317">
                <a:moveTo>
                  <a:pt x="19184707" y="0"/>
                </a:moveTo>
                <a:lnTo>
                  <a:pt x="0" y="0"/>
                </a:lnTo>
                <a:lnTo>
                  <a:pt x="0" y="10778317"/>
                </a:lnTo>
                <a:lnTo>
                  <a:pt x="19184707" y="10778317"/>
                </a:lnTo>
                <a:lnTo>
                  <a:pt x="19184707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 rot="991652">
            <a:off x="14264690" y="4392082"/>
            <a:ext cx="2466242" cy="3636551"/>
          </a:xfrm>
          <a:custGeom>
            <a:avLst/>
            <a:gdLst/>
            <a:ahLst/>
            <a:cxnLst/>
            <a:rect l="l" t="t" r="r" b="b"/>
            <a:pathLst>
              <a:path w="2466242" h="3636551">
                <a:moveTo>
                  <a:pt x="0" y="0"/>
                </a:moveTo>
                <a:lnTo>
                  <a:pt x="2466243" y="0"/>
                </a:lnTo>
                <a:lnTo>
                  <a:pt x="2466243" y="3636550"/>
                </a:lnTo>
                <a:lnTo>
                  <a:pt x="0" y="3636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5" name="Group 5"/>
          <p:cNvGrpSpPr/>
          <p:nvPr/>
        </p:nvGrpSpPr>
        <p:grpSpPr>
          <a:xfrm rot="-132286">
            <a:off x="4880837" y="3946551"/>
            <a:ext cx="8469176" cy="2009047"/>
            <a:chOff x="0" y="0"/>
            <a:chExt cx="2523613" cy="598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3613" cy="598648"/>
            </a:xfrm>
            <a:custGeom>
              <a:avLst/>
              <a:gdLst/>
              <a:ahLst/>
              <a:cxnLst/>
              <a:rect l="l" t="t" r="r" b="b"/>
              <a:pathLst>
                <a:path w="2523613" h="598648">
                  <a:moveTo>
                    <a:pt x="91413" y="0"/>
                  </a:moveTo>
                  <a:lnTo>
                    <a:pt x="2432200" y="0"/>
                  </a:lnTo>
                  <a:cubicBezTo>
                    <a:pt x="2482686" y="0"/>
                    <a:pt x="2523613" y="40927"/>
                    <a:pt x="2523613" y="91413"/>
                  </a:cubicBezTo>
                  <a:lnTo>
                    <a:pt x="2523613" y="507235"/>
                  </a:lnTo>
                  <a:cubicBezTo>
                    <a:pt x="2523613" y="557721"/>
                    <a:pt x="2482686" y="598648"/>
                    <a:pt x="2432200" y="598648"/>
                  </a:cubicBezTo>
                  <a:lnTo>
                    <a:pt x="91413" y="598648"/>
                  </a:lnTo>
                  <a:cubicBezTo>
                    <a:pt x="40927" y="598648"/>
                    <a:pt x="0" y="557721"/>
                    <a:pt x="0" y="507235"/>
                  </a:cubicBezTo>
                  <a:lnTo>
                    <a:pt x="0" y="91413"/>
                  </a:lnTo>
                  <a:cubicBezTo>
                    <a:pt x="0" y="40927"/>
                    <a:pt x="40927" y="0"/>
                    <a:pt x="91413" y="0"/>
                  </a:cubicBezTo>
                  <a:close/>
                </a:path>
              </a:pathLst>
            </a:custGeom>
            <a:solidFill>
              <a:srgbClr val="3C5D9E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23613" cy="636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 rot="-132286">
            <a:off x="5509895" y="4478740"/>
            <a:ext cx="6840984" cy="129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96"/>
              </a:lnSpc>
            </a:pPr>
            <a:r>
              <a:rPr lang="en-US" sz="10937">
                <a:solidFill>
                  <a:srgbClr val="FFFFFF"/>
                </a:solidFill>
                <a:latin typeface="TT Milks Casual Pie Base"/>
                <a:ea typeface="TT Milks Casual Pie Base"/>
                <a:cs typeface="TT Milks Casual Pie Base"/>
                <a:sym typeface="TT Milks Casual Pie Base"/>
              </a:rPr>
              <a:t>Gracias</a:t>
            </a:r>
          </a:p>
        </p:txBody>
      </p:sp>
      <p:sp>
        <p:nvSpPr>
          <p:cNvPr id="9" name="Freeform 9"/>
          <p:cNvSpPr/>
          <p:nvPr/>
        </p:nvSpPr>
        <p:spPr>
          <a:xfrm rot="-811559">
            <a:off x="716534" y="4954906"/>
            <a:ext cx="3024083" cy="2991093"/>
          </a:xfrm>
          <a:custGeom>
            <a:avLst/>
            <a:gdLst/>
            <a:ahLst/>
            <a:cxnLst/>
            <a:rect l="l" t="t" r="r" b="b"/>
            <a:pathLst>
              <a:path w="3024083" h="2991093">
                <a:moveTo>
                  <a:pt x="0" y="0"/>
                </a:moveTo>
                <a:lnTo>
                  <a:pt x="3024083" y="0"/>
                </a:lnTo>
                <a:lnTo>
                  <a:pt x="3024083" y="2991093"/>
                </a:lnTo>
                <a:lnTo>
                  <a:pt x="0" y="2991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10"/>
          <p:cNvSpPr/>
          <p:nvPr/>
        </p:nvSpPr>
        <p:spPr>
          <a:xfrm rot="-477516">
            <a:off x="4143663" y="3247700"/>
            <a:ext cx="1457705" cy="1476496"/>
          </a:xfrm>
          <a:custGeom>
            <a:avLst/>
            <a:gdLst/>
            <a:ahLst/>
            <a:cxnLst/>
            <a:rect l="l" t="t" r="r" b="b"/>
            <a:pathLst>
              <a:path w="1457705" h="1476496">
                <a:moveTo>
                  <a:pt x="0" y="0"/>
                </a:moveTo>
                <a:lnTo>
                  <a:pt x="1457705" y="0"/>
                </a:lnTo>
                <a:lnTo>
                  <a:pt x="1457705" y="1476496"/>
                </a:lnTo>
                <a:lnTo>
                  <a:pt x="0" y="14764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11" name="Group 11"/>
          <p:cNvGrpSpPr/>
          <p:nvPr/>
        </p:nvGrpSpPr>
        <p:grpSpPr>
          <a:xfrm>
            <a:off x="1028700" y="738040"/>
            <a:ext cx="16507494" cy="1228473"/>
            <a:chOff x="0" y="0"/>
            <a:chExt cx="5039322" cy="3750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39322" cy="375022"/>
            </a:xfrm>
            <a:custGeom>
              <a:avLst/>
              <a:gdLst/>
              <a:ahLst/>
              <a:cxnLst/>
              <a:rect l="l" t="t" r="r" b="b"/>
              <a:pathLst>
                <a:path w="5039322" h="375022">
                  <a:moveTo>
                    <a:pt x="46899" y="0"/>
                  </a:moveTo>
                  <a:lnTo>
                    <a:pt x="4992422" y="0"/>
                  </a:lnTo>
                  <a:cubicBezTo>
                    <a:pt x="5018324" y="0"/>
                    <a:pt x="5039322" y="20998"/>
                    <a:pt x="5039322" y="46899"/>
                  </a:cubicBezTo>
                  <a:lnTo>
                    <a:pt x="5039322" y="328122"/>
                  </a:lnTo>
                  <a:cubicBezTo>
                    <a:pt x="5039322" y="354024"/>
                    <a:pt x="5018324" y="375022"/>
                    <a:pt x="4992422" y="375022"/>
                  </a:cubicBezTo>
                  <a:lnTo>
                    <a:pt x="46899" y="375022"/>
                  </a:lnTo>
                  <a:cubicBezTo>
                    <a:pt x="20998" y="375022"/>
                    <a:pt x="0" y="354024"/>
                    <a:pt x="0" y="328122"/>
                  </a:cubicBezTo>
                  <a:lnTo>
                    <a:pt x="0" y="46899"/>
                  </a:lnTo>
                  <a:cubicBezTo>
                    <a:pt x="0" y="20998"/>
                    <a:pt x="20998" y="0"/>
                    <a:pt x="46899" y="0"/>
                  </a:cubicBezTo>
                  <a:close/>
                </a:path>
              </a:pathLst>
            </a:custGeom>
            <a:solidFill>
              <a:srgbClr val="3C5D9E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039322" cy="413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371105">
            <a:off x="12729246" y="2349331"/>
            <a:ext cx="1538689" cy="2526207"/>
          </a:xfrm>
          <a:custGeom>
            <a:avLst/>
            <a:gdLst/>
            <a:ahLst/>
            <a:cxnLst/>
            <a:rect l="l" t="t" r="r" b="b"/>
            <a:pathLst>
              <a:path w="1538689" h="2526207">
                <a:moveTo>
                  <a:pt x="0" y="0"/>
                </a:moveTo>
                <a:lnTo>
                  <a:pt x="1538689" y="0"/>
                </a:lnTo>
                <a:lnTo>
                  <a:pt x="1538689" y="2526206"/>
                </a:lnTo>
                <a:lnTo>
                  <a:pt x="0" y="2526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5" name="Freeform 15"/>
          <p:cNvSpPr/>
          <p:nvPr/>
        </p:nvSpPr>
        <p:spPr>
          <a:xfrm>
            <a:off x="8447411" y="1144180"/>
            <a:ext cx="1596209" cy="399052"/>
          </a:xfrm>
          <a:custGeom>
            <a:avLst/>
            <a:gdLst/>
            <a:ahLst/>
            <a:cxnLst/>
            <a:rect l="l" t="t" r="r" b="b"/>
            <a:pathLst>
              <a:path w="1596209" h="399052">
                <a:moveTo>
                  <a:pt x="0" y="0"/>
                </a:moveTo>
                <a:lnTo>
                  <a:pt x="1596209" y="0"/>
                </a:lnTo>
                <a:lnTo>
                  <a:pt x="1596209" y="399053"/>
                </a:lnTo>
                <a:lnTo>
                  <a:pt x="0" y="399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6" name="Freeform 16"/>
          <p:cNvSpPr/>
          <p:nvPr/>
        </p:nvSpPr>
        <p:spPr>
          <a:xfrm>
            <a:off x="13798383" y="1034463"/>
            <a:ext cx="2936637" cy="618488"/>
          </a:xfrm>
          <a:custGeom>
            <a:avLst/>
            <a:gdLst/>
            <a:ahLst/>
            <a:cxnLst/>
            <a:rect l="l" t="t" r="r" b="b"/>
            <a:pathLst>
              <a:path w="2936637" h="618488">
                <a:moveTo>
                  <a:pt x="0" y="0"/>
                </a:moveTo>
                <a:lnTo>
                  <a:pt x="2936637" y="0"/>
                </a:lnTo>
                <a:lnTo>
                  <a:pt x="2936637" y="618488"/>
                </a:lnTo>
                <a:lnTo>
                  <a:pt x="0" y="6184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052" t="-35212" r="-2437" b="-23996"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1985</Words>
  <Application>Microsoft Office PowerPoint</Application>
  <PresentationFormat>Personalizado</PresentationFormat>
  <Paragraphs>407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TT Milks Casual Pie Base</vt:lpstr>
      <vt:lpstr>Manjari Bold</vt:lpstr>
      <vt:lpstr>Arial</vt:lpstr>
      <vt:lpstr>Manjari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AV2-Herramientas-desarrollo-PPT</dc:title>
  <cp:lastModifiedBy>ALUMNO - RONAL JAMES LLAPAPASCA MONTES</cp:lastModifiedBy>
  <cp:revision>2</cp:revision>
  <dcterms:created xsi:type="dcterms:W3CDTF">2006-08-16T00:00:00Z</dcterms:created>
  <dcterms:modified xsi:type="dcterms:W3CDTF">2026-10-19T04:17:44Z</dcterms:modified>
  <dc:identifier>DAHVHICeTS0</dc:identifier>
</cp:coreProperties>
</file>